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9144000" cy="38100"/>
          </a:xfrm>
          <a:prstGeom prst="rect">
            <a:avLst/>
          </a:prstGeom>
          <a:solidFill>
            <a:srgbClr val="D70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417320"/>
            <a:ext cx="4572000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nga_symbol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669280"/>
            <a:ext cx="1645920" cy="7187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00200"/>
            <a:ext cx="5943600" cy="1005840"/>
          </a:xfrm>
          <a:prstGeom prst="rect">
            <a:avLst/>
          </a:prstGeom>
          <a:noFill/>
        </p:spPr>
        <p:txBody>
          <a:bodyPr wrap="square" tIns="101600" bIns="0" lIns="0" rIns="0">
            <a:spAutoFit/>
          </a:bodyPr>
          <a:lstStyle/>
          <a:p>
            <a:pPr>
              <a:lnSpc>
                <a:spcPts val="5400"/>
              </a:lnSpc>
            </a:pPr>
            <a:r>
              <a:rPr sz="4000" b="1">
                <a:solidFill>
                  <a:srgbClr val="000000"/>
                </a:solidFill>
                <a:latin typeface="NanumGothic ExtraBold"/>
                <a:ea typeface="NanumGothic ExtraBold"/>
              </a:rPr>
              <a:t>2026년 1분기
사업 현황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5943600" cy="457200"/>
          </a:xfrm>
          <a:prstGeom prst="rect">
            <a:avLst/>
          </a:prstGeom>
          <a:noFill/>
        </p:spPr>
        <p:txBody>
          <a:bodyPr wrap="square" tIns="76200" lIns="0">
            <a:spAutoFit/>
          </a:bodyPr>
          <a:lstStyle/>
          <a:p>
            <a:r>
              <a:rPr sz="2000" b="0">
                <a:solidFill>
                  <a:srgbClr val="404040"/>
                </a:solidFill>
                <a:latin typeface="NanumGothic"/>
                <a:ea typeface="NanumGothic"/>
              </a:rPr>
              <a:t>디지털 전환 및 교육 콘텐츠 혁신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5943600" cy="640080"/>
          </a:xfrm>
          <a:prstGeom prst="rect">
            <a:avLst/>
          </a:prstGeom>
          <a:noFill/>
        </p:spPr>
        <p:txBody>
          <a:bodyPr wrap="square" tIns="76200" l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0">
                <a:solidFill>
                  <a:srgbClr val="404040"/>
                </a:solidFill>
                <a:latin typeface="NanumGothic"/>
                <a:ea typeface="NanumGothic"/>
              </a:rPr>
              <a:t>경영기획실</a:t>
            </a:r>
          </a:p>
          <a:p>
            <a:pPr>
              <a:spcBef>
                <a:spcPts val="0"/>
              </a:spcBef>
            </a:pPr>
            <a:r>
              <a:rPr sz="1300" b="0">
                <a:solidFill>
                  <a:srgbClr val="808080"/>
                </a:solidFill>
                <a:latin typeface="NanumGothic"/>
                <a:ea typeface="NanumGothic"/>
              </a:rPr>
              <a:t>2026. 03. 28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4450"/>
          </a:xfrm>
          <a:prstGeom prst="rect">
            <a:avLst/>
          </a:prstGeom>
          <a:solidFill>
            <a:srgbClr val="D70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320040"/>
            <a:ext cx="7735824" cy="438912"/>
          </a:xfrm>
          <a:prstGeom prst="rect">
            <a:avLst/>
          </a:prstGeom>
          <a:noFill/>
        </p:spPr>
        <p:txBody>
          <a:bodyPr wrap="none" tIns="76200" lIns="0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목  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795528"/>
            <a:ext cx="7735824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548640" cy="365760"/>
          </a:xfrm>
          <a:prstGeom prst="rect">
            <a:avLst/>
          </a:prstGeom>
          <a:noFill/>
        </p:spPr>
        <p:txBody>
          <a:bodyPr wrap="none" tIns="50800" lIns="0">
            <a:spAutoFit/>
          </a:bodyPr>
          <a:lstStyle/>
          <a:p>
            <a:pPr algn="r"/>
            <a:r>
              <a:rPr sz="1600" b="1">
                <a:solidFill>
                  <a:srgbClr val="D7003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6192" y="1188720"/>
            <a:ext cx="182880" cy="365760"/>
          </a:xfrm>
          <a:prstGeom prst="rect">
            <a:avLst/>
          </a:prstGeom>
          <a:noFill/>
        </p:spPr>
        <p:txBody>
          <a:bodyPr wrap="none" tIns="38100">
            <a:spAutoFit/>
          </a:bodyPr>
          <a:lstStyle/>
          <a:p>
            <a:pPr algn="ctr"/>
            <a:r>
              <a:rPr sz="1400" b="0">
                <a:solidFill>
                  <a:srgbClr val="D9D9D9"/>
                </a:solidFill>
                <a:latin typeface="맑은 고딕"/>
                <a:ea typeface="맑은 고딕"/>
              </a:rPr>
              <a:t>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188720"/>
            <a:ext cx="5943600" cy="365760"/>
          </a:xfrm>
          <a:prstGeom prst="rect">
            <a:avLst/>
          </a:prstGeom>
          <a:noFill/>
        </p:spPr>
        <p:txBody>
          <a:bodyPr wrap="none" tIns="63500" lIns="0">
            <a:spAutoFit/>
          </a:bodyPr>
          <a:lstStyle/>
          <a:p>
            <a:r>
              <a:rPr sz="1500" b="0">
                <a:solidFill>
                  <a:srgbClr val="404040"/>
                </a:solidFill>
                <a:latin typeface="맑은 고딕"/>
                <a:ea typeface="맑은 고딕"/>
              </a:rPr>
              <a:t>사업 성과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548640" cy="365760"/>
          </a:xfrm>
          <a:prstGeom prst="rect">
            <a:avLst/>
          </a:prstGeom>
          <a:noFill/>
        </p:spPr>
        <p:txBody>
          <a:bodyPr wrap="none" tIns="50800" lIns="0">
            <a:spAutoFit/>
          </a:bodyPr>
          <a:lstStyle/>
          <a:p>
            <a:pPr algn="r"/>
            <a:r>
              <a:rPr sz="1600" b="1">
                <a:solidFill>
                  <a:srgbClr val="D7003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1755648"/>
            <a:ext cx="182880" cy="365760"/>
          </a:xfrm>
          <a:prstGeom prst="rect">
            <a:avLst/>
          </a:prstGeom>
          <a:noFill/>
        </p:spPr>
        <p:txBody>
          <a:bodyPr wrap="none" tIns="38100">
            <a:spAutoFit/>
          </a:bodyPr>
          <a:lstStyle/>
          <a:p>
            <a:pPr algn="ctr"/>
            <a:r>
              <a:rPr sz="1400" b="0">
                <a:solidFill>
                  <a:srgbClr val="D9D9D9"/>
                </a:solidFill>
                <a:latin typeface="맑은 고딕"/>
                <a:ea typeface="맑은 고딕"/>
              </a:rPr>
              <a:t>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755648"/>
            <a:ext cx="5943600" cy="365760"/>
          </a:xfrm>
          <a:prstGeom prst="rect">
            <a:avLst/>
          </a:prstGeom>
          <a:noFill/>
        </p:spPr>
        <p:txBody>
          <a:bodyPr wrap="none" tIns="63500" lIns="0">
            <a:spAutoFit/>
          </a:bodyPr>
          <a:lstStyle/>
          <a:p>
            <a:r>
              <a:rPr sz="1500" b="0">
                <a:solidFill>
                  <a:srgbClr val="404040"/>
                </a:solidFill>
                <a:latin typeface="맑은 고딕"/>
                <a:ea typeface="맑은 고딕"/>
              </a:rPr>
              <a:t>디지털 전환 추진 현황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548640" cy="365760"/>
          </a:xfrm>
          <a:prstGeom prst="rect">
            <a:avLst/>
          </a:prstGeom>
          <a:noFill/>
        </p:spPr>
        <p:txBody>
          <a:bodyPr wrap="none" tIns="50800" lIns="0">
            <a:spAutoFit/>
          </a:bodyPr>
          <a:lstStyle/>
          <a:p>
            <a:pPr algn="r"/>
            <a:r>
              <a:rPr sz="1600" b="1">
                <a:solidFill>
                  <a:srgbClr val="D7003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322576"/>
            <a:ext cx="182880" cy="365760"/>
          </a:xfrm>
          <a:prstGeom prst="rect">
            <a:avLst/>
          </a:prstGeom>
          <a:noFill/>
        </p:spPr>
        <p:txBody>
          <a:bodyPr wrap="none" tIns="38100">
            <a:spAutoFit/>
          </a:bodyPr>
          <a:lstStyle/>
          <a:p>
            <a:pPr algn="ctr"/>
            <a:r>
              <a:rPr sz="1400" b="0">
                <a:solidFill>
                  <a:srgbClr val="D9D9D9"/>
                </a:solidFill>
                <a:latin typeface="맑은 고딕"/>
                <a:ea typeface="맑은 고딕"/>
              </a:rPr>
              <a:t>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322576"/>
            <a:ext cx="5943600" cy="365760"/>
          </a:xfrm>
          <a:prstGeom prst="rect">
            <a:avLst/>
          </a:prstGeom>
          <a:noFill/>
        </p:spPr>
        <p:txBody>
          <a:bodyPr wrap="none" tIns="63500" lIns="0">
            <a:spAutoFit/>
          </a:bodyPr>
          <a:lstStyle/>
          <a:p>
            <a:r>
              <a:rPr sz="1500" b="0">
                <a:solidFill>
                  <a:srgbClr val="404040"/>
                </a:solidFill>
                <a:latin typeface="맑은 고딕"/>
                <a:ea typeface="맑은 고딕"/>
              </a:rPr>
              <a:t>교육 콘텐츠 혁신 전략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9504"/>
            <a:ext cx="548640" cy="365760"/>
          </a:xfrm>
          <a:prstGeom prst="rect">
            <a:avLst/>
          </a:prstGeom>
          <a:noFill/>
        </p:spPr>
        <p:txBody>
          <a:bodyPr wrap="none" tIns="50800" lIns="0">
            <a:spAutoFit/>
          </a:bodyPr>
          <a:lstStyle/>
          <a:p>
            <a:pPr algn="r"/>
            <a:r>
              <a:rPr sz="1600" b="1">
                <a:solidFill>
                  <a:srgbClr val="D7003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889504"/>
            <a:ext cx="182880" cy="365760"/>
          </a:xfrm>
          <a:prstGeom prst="rect">
            <a:avLst/>
          </a:prstGeom>
          <a:noFill/>
        </p:spPr>
        <p:txBody>
          <a:bodyPr wrap="none" tIns="38100">
            <a:spAutoFit/>
          </a:bodyPr>
          <a:lstStyle/>
          <a:p>
            <a:pPr algn="ctr"/>
            <a:r>
              <a:rPr sz="1400" b="0">
                <a:solidFill>
                  <a:srgbClr val="D9D9D9"/>
                </a:solidFill>
                <a:latin typeface="맑은 고딕"/>
                <a:ea typeface="맑은 고딕"/>
              </a:rPr>
              <a:t>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889504"/>
            <a:ext cx="5943600" cy="365760"/>
          </a:xfrm>
          <a:prstGeom prst="rect">
            <a:avLst/>
          </a:prstGeom>
          <a:noFill/>
        </p:spPr>
        <p:txBody>
          <a:bodyPr wrap="none" tIns="63500" lIns="0">
            <a:spAutoFit/>
          </a:bodyPr>
          <a:lstStyle/>
          <a:p>
            <a:r>
              <a:rPr sz="1500" b="0">
                <a:solidFill>
                  <a:srgbClr val="404040"/>
                </a:solidFill>
                <a:latin typeface="맑은 고딕"/>
                <a:ea typeface="맑은 고딕"/>
              </a:rPr>
              <a:t>향후 계획 및 일정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3685032"/>
            <a:ext cx="7735824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22192"/>
            <a:ext cx="64008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200" b="0">
                <a:solidFill>
                  <a:srgbClr val="808080"/>
                </a:solidFill>
                <a:latin typeface="맑은 고딕"/>
                <a:ea typeface="맑은 고딕"/>
              </a:rPr>
              <a:t>[별첨]  상세 재무 데이터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6355080"/>
            <a:ext cx="82296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5200" b="1">
                <a:solidFill>
                  <a:srgbClr val="D7003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0" y="2971800"/>
            <a:ext cx="548640" cy="38100"/>
          </a:xfrm>
          <a:prstGeom prst="rect">
            <a:avLst/>
          </a:prstGeom>
          <a:solidFill>
            <a:srgbClr val="D70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맑은 고딕"/>
                <a:ea typeface="맑은 고딕"/>
              </a:rPr>
              <a:t>사업 성과 요약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4450"/>
          </a:xfrm>
          <a:prstGeom prst="rect">
            <a:avLst/>
          </a:prstGeom>
          <a:solidFill>
            <a:srgbClr val="D70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7735824" cy="438912"/>
          </a:xfrm>
          <a:prstGeom prst="rect">
            <a:avLst/>
          </a:prstGeom>
          <a:noFill/>
        </p:spPr>
        <p:txBody>
          <a:bodyPr wrap="square" tIns="76200" bIns="25400" lIns="0" rIns="0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1분기 핵심 성과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749808"/>
            <a:ext cx="7735824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02208"/>
            <a:ext cx="7735824" cy="320040"/>
          </a:xfrm>
          <a:prstGeom prst="rect">
            <a:avLst/>
          </a:prstGeom>
          <a:noFill/>
        </p:spPr>
        <p:txBody>
          <a:bodyPr wrap="none" tIns="25400" bIns="25400" lIns="0" rIns="0">
            <a:spAutoFit/>
          </a:bodyPr>
          <a:lstStyle/>
          <a:p>
            <a:r>
              <a:rPr sz="1400" b="1">
                <a:solidFill>
                  <a:srgbClr val="404040"/>
                </a:solidFill>
                <a:latin typeface="맑은 고딕"/>
                <a:ea typeface="맑은 고딕"/>
              </a:rPr>
              <a:t>전 사업부 목표 초과 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9680"/>
            <a:ext cx="7598664" cy="1481328"/>
          </a:xfrm>
          <a:prstGeom prst="rect">
            <a:avLst/>
          </a:prstGeom>
          <a:noFill/>
        </p:spPr>
        <p:txBody>
          <a:bodyPr wrap="square" tIns="0" bIns="0" lIns="50800" rIns="0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08080"/>
                </a:solidFill>
                <a:latin typeface="맑은 고딕"/>
                <a:ea typeface="맑은 고딕"/>
              </a:rPr>
              <a:t>•   </a:t>
            </a:r>
            <a:r>
              <a:rPr sz="1200" b="0">
                <a:solidFill>
                  <a:srgbClr val="404040"/>
                </a:solidFill>
                <a:latin typeface="맑은 고딕"/>
                <a:ea typeface="맑은 고딕"/>
              </a:rPr>
              <a:t>매출액 162억 원 달성 — 전년 동기 대비 12.3% 성장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08080"/>
                </a:solidFill>
                <a:latin typeface="맑은 고딕"/>
                <a:ea typeface="맑은 고딕"/>
              </a:rPr>
              <a:t>•   </a:t>
            </a:r>
            <a:r>
              <a:rPr sz="1200" b="0">
                <a:solidFill>
                  <a:srgbClr val="404040"/>
                </a:solidFill>
                <a:latin typeface="맑은 고딕"/>
                <a:ea typeface="맑은 고딕"/>
              </a:rPr>
              <a:t>디지털 교과서 시장 점유율 업계 1위 유지 (38.2%)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08080"/>
                </a:solidFill>
                <a:latin typeface="맑은 고딕"/>
                <a:ea typeface="맑은 고딕"/>
              </a:rPr>
              <a:t>•   </a:t>
            </a:r>
            <a:r>
              <a:rPr sz="1200" b="0">
                <a:solidFill>
                  <a:srgbClr val="404040"/>
                </a:solidFill>
                <a:latin typeface="맑은 고딕"/>
                <a:ea typeface="맑은 고딕"/>
              </a:rPr>
              <a:t>AI 기반 학습 분석 플랫폼 베타 서비스 런칭 완료 (2월)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08080"/>
                </a:solidFill>
                <a:latin typeface="맑은 고딕"/>
                <a:ea typeface="맑은 고딕"/>
              </a:rPr>
              <a:t>•   </a:t>
            </a:r>
            <a:r>
              <a:rPr sz="1200" b="0">
                <a:solidFill>
                  <a:srgbClr val="404040"/>
                </a:solidFill>
                <a:latin typeface="맑은 고딕"/>
                <a:ea typeface="맑은 고딕"/>
              </a:rPr>
              <a:t>고객 만족도 4.7점 달성 — 목표 4.5점 대비 초과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49296"/>
            <a:ext cx="7598664" cy="292608"/>
          </a:xfrm>
          <a:prstGeom prst="rect">
            <a:avLst/>
          </a:prstGeom>
          <a:noFill/>
        </p:spPr>
        <p:txBody>
          <a:bodyPr wrap="square" tIns="25400" bIns="25400" lIns="50800" rIns="0">
            <a:spAutoFit/>
          </a:bodyPr>
          <a:lstStyle/>
          <a:p>
            <a:r>
              <a:rPr sz="1200" b="1">
                <a:solidFill>
                  <a:srgbClr val="404040"/>
                </a:solidFill>
                <a:latin typeface="맑은 고딕"/>
                <a:ea typeface="맑은 고딕"/>
              </a:rPr>
              <a:t>총 매출  </a:t>
            </a:r>
            <a:r>
              <a:rPr sz="1200" b="1">
                <a:solidFill>
                  <a:srgbClr val="C00000"/>
                </a:solidFill>
                <a:latin typeface="맑은 고딕"/>
                <a:ea typeface="맑은 고딕"/>
              </a:rPr>
              <a:t>162억 원 (YoY +12.3%)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060192"/>
            <a:ext cx="7598664" cy="292608"/>
          </a:xfrm>
          <a:prstGeom prst="rect">
            <a:avLst/>
          </a:prstGeom>
          <a:noFill/>
        </p:spPr>
        <p:txBody>
          <a:bodyPr wrap="square" tIns="25400" bIns="25400" lIns="50800" rIns="0">
            <a:spAutoFit/>
          </a:bodyPr>
          <a:lstStyle/>
          <a:p>
            <a:r>
              <a:rPr sz="1200" b="1">
                <a:solidFill>
                  <a:srgbClr val="404040"/>
                </a:solidFill>
                <a:latin typeface="맑은 고딕"/>
                <a:ea typeface="맑은 고딕"/>
              </a:rPr>
              <a:t>영업이익률  </a:t>
            </a:r>
            <a:r>
              <a:rPr sz="1200" b="1">
                <a:solidFill>
                  <a:srgbClr val="C00000"/>
                </a:solidFill>
                <a:latin typeface="맑은 고딕"/>
                <a:ea typeface="맑은 고딕"/>
              </a:rPr>
              <a:t>17.0% (YoY +2.3%p)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6355080"/>
            <a:ext cx="82296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4450"/>
          </a:xfrm>
          <a:prstGeom prst="rect">
            <a:avLst/>
          </a:prstGeom>
          <a:solidFill>
            <a:srgbClr val="D70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7735824" cy="438912"/>
          </a:xfrm>
          <a:prstGeom prst="rect">
            <a:avLst/>
          </a:prstGeom>
          <a:noFill/>
        </p:spPr>
        <p:txBody>
          <a:bodyPr wrap="square" tIns="76200" bIns="25400" lIns="0" rIns="0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주요 사업 지표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749808"/>
            <a:ext cx="7735824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02208"/>
            <a:ext cx="45720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r>
              <a:rPr sz="1100" b="1">
                <a:solidFill>
                  <a:srgbClr val="404040"/>
                </a:solidFill>
                <a:latin typeface="맑은 고딕"/>
                <a:ea typeface="맑은 고딕"/>
              </a:rPr>
              <a:t>[표 1] 2026년 1분기 핵심 KPI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4088" y="1222248"/>
          <a:ext cx="7735824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1463040"/>
                <a:gridCol w="1463040"/>
                <a:gridCol w="1700784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 marT="63500" marB="63500" marL="101600" marR="101600">
                    <a:solidFill>
                      <a:srgbClr val="4472C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B w="6350" cap="flat" cmpd="sng">
                      <a:solidFill>
                        <a:srgbClr val="FFFFFF"/>
                      </a:solidFill>
                    </a:lnB>
                    <a:lnT w="9525" cap="flat" cmpd="sng">
                      <a:solidFill>
                        <a:srgbClr val="BFBFBF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목표</a:t>
                      </a:r>
                    </a:p>
                  </a:txBody>
                  <a:tcPr anchor="ctr" marT="63500" marB="63500" marL="101600" marR="101600">
                    <a:solidFill>
                      <a:srgbClr val="4472C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B w="6350" cap="flat" cmpd="sng">
                      <a:solidFill>
                        <a:srgbClr val="FFFFFF"/>
                      </a:solidFill>
                    </a:lnB>
                    <a:lnT w="9525" cap="flat" cmpd="sng">
                      <a:solidFill>
                        <a:srgbClr val="BFBFBF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실적</a:t>
                      </a:r>
                    </a:p>
                  </a:txBody>
                  <a:tcPr anchor="ctr" marT="63500" marB="63500" marL="101600" marR="101600">
                    <a:solidFill>
                      <a:srgbClr val="4472C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B w="6350" cap="flat" cmpd="sng">
                      <a:solidFill>
                        <a:srgbClr val="FFFFFF"/>
                      </a:solidFill>
                    </a:lnB>
                    <a:lnT w="9525" cap="flat" cmpd="sng">
                      <a:solidFill>
                        <a:srgbClr val="BFBFBF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달성률</a:t>
                      </a:r>
                    </a:p>
                  </a:txBody>
                  <a:tcPr anchor="ctr" marT="63500" marB="63500" marL="101600" marR="101600">
                    <a:solidFill>
                      <a:srgbClr val="4472C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B w="6350" cap="flat" cmpd="sng">
                      <a:solidFill>
                        <a:srgbClr val="FFFFFF"/>
                      </a:solidFill>
                    </a:lnB>
                    <a:lnT w="9525" cap="flat" cmpd="sng">
                      <a:solidFill>
                        <a:srgbClr val="BFBFBF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전년 대비</a:t>
                      </a:r>
                    </a:p>
                  </a:txBody>
                  <a:tcPr anchor="ctr" marT="63500" marB="63500" marL="101600" marR="101600">
                    <a:solidFill>
                      <a:srgbClr val="4472C4"/>
                    </a:solidFill>
                    <a:lnL w="6350" cap="flat" cmpd="sng">
                      <a:solidFill>
                        <a:srgbClr val="FFFFFF"/>
                      </a:solidFill>
                    </a:lnL>
                    <a:lnR w="6350" cap="flat" cmpd="sng">
                      <a:solidFill>
                        <a:srgbClr val="FFFFFF"/>
                      </a:solidFill>
                    </a:lnR>
                    <a:lnB w="6350" cap="flat" cmpd="sng">
                      <a:solidFill>
                        <a:srgbClr val="FFFFFF"/>
                      </a:solidFill>
                    </a:lnB>
                    <a:lnT w="9525" cap="flat" cmpd="sng">
                      <a:solidFill>
                        <a:srgbClr val="BFBFBF"/>
                      </a:solidFill>
                    </a:lnT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매출액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150억 원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162억 원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108.0%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+12.3%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신규 콘텐츠</a:t>
                      </a:r>
                    </a:p>
                  </a:txBody>
                  <a:tcPr anchor="ctr" marT="50800" marB="50800" marL="101600" marR="101600">
                    <a:solidFill>
                      <a:srgbClr val="F2F2F2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50종</a:t>
                      </a:r>
                    </a:p>
                  </a:txBody>
                  <a:tcPr anchor="ctr" marT="50800" marB="50800" marL="101600" marR="101600">
                    <a:solidFill>
                      <a:srgbClr val="F2F2F2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47종</a:t>
                      </a:r>
                    </a:p>
                  </a:txBody>
                  <a:tcPr anchor="ctr" marT="50800" marB="50800" marL="101600" marR="101600">
                    <a:solidFill>
                      <a:srgbClr val="F2F2F2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94.0%</a:t>
                      </a:r>
                    </a:p>
                  </a:txBody>
                  <a:tcPr anchor="ctr" marT="50800" marB="50800" marL="101600" marR="101600">
                    <a:solidFill>
                      <a:srgbClr val="F2F2F2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+8종</a:t>
                      </a:r>
                    </a:p>
                  </a:txBody>
                  <a:tcPr anchor="ctr" marT="50800" marB="50800" marL="101600" marR="101600">
                    <a:solidFill>
                      <a:srgbClr val="F2F2F2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디지털 전환율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60.0%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65.2%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108.7%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+11.4%p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고객 만족도</a:t>
                      </a:r>
                    </a:p>
                  </a:txBody>
                  <a:tcPr anchor="ctr" marT="50800" marB="50800" marL="101600" marR="101600">
                    <a:solidFill>
                      <a:srgbClr val="F2F2F2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4.5점</a:t>
                      </a:r>
                    </a:p>
                  </a:txBody>
                  <a:tcPr anchor="ctr" marT="50800" marB="50800" marL="101600" marR="101600">
                    <a:solidFill>
                      <a:srgbClr val="F2F2F2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4.7점</a:t>
                      </a:r>
                    </a:p>
                  </a:txBody>
                  <a:tcPr anchor="ctr" marT="50800" marB="50800" marL="101600" marR="101600">
                    <a:solidFill>
                      <a:srgbClr val="F2F2F2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104.4%</a:t>
                      </a:r>
                    </a:p>
                  </a:txBody>
                  <a:tcPr anchor="ctr" marT="50800" marB="50800" marL="101600" marR="101600">
                    <a:solidFill>
                      <a:srgbClr val="F2F2F2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+0.3점</a:t>
                      </a:r>
                    </a:p>
                  </a:txBody>
                  <a:tcPr anchor="ctr" marT="50800" marB="50800" marL="101600" marR="101600">
                    <a:solidFill>
                      <a:srgbClr val="F2F2F2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영업이익률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9525" cap="flat" cmpd="sng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15.0%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9525" cap="flat" cmpd="sng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17.0%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9525" cap="flat" cmpd="sng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113.3%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9525" cap="flat" cmpd="sng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+2.3%p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9525" cap="flat" cmpd="sng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6355080"/>
            <a:ext cx="82296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5200" b="1">
                <a:solidFill>
                  <a:srgbClr val="D7003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680" y="2971800"/>
            <a:ext cx="548640" cy="38100"/>
          </a:xfrm>
          <a:prstGeom prst="rect">
            <a:avLst/>
          </a:prstGeom>
          <a:solidFill>
            <a:srgbClr val="D70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맑은 고딕"/>
                <a:ea typeface="맑은 고딕"/>
              </a:rPr>
              <a:t>디지털 전환 추진 현황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4450"/>
          </a:xfrm>
          <a:prstGeom prst="rect">
            <a:avLst/>
          </a:prstGeom>
          <a:solidFill>
            <a:srgbClr val="D70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7735824" cy="438912"/>
          </a:xfrm>
          <a:prstGeom prst="rect">
            <a:avLst/>
          </a:prstGeom>
          <a:noFill/>
        </p:spPr>
        <p:txBody>
          <a:bodyPr wrap="square" tIns="76200" bIns="25400" lIns="0" rIns="0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프로젝트 진행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749808"/>
            <a:ext cx="7735824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02208"/>
            <a:ext cx="4572000" cy="27432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r>
              <a:rPr sz="1100" b="1">
                <a:solidFill>
                  <a:srgbClr val="404040"/>
                </a:solidFill>
                <a:latin typeface="맑은 고딕"/>
                <a:ea typeface="맑은 고딕"/>
              </a:rPr>
              <a:t>[표 2] 핵심 프로젝트 추진 상태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4088" y="1222248"/>
          <a:ext cx="773582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097280"/>
                <a:gridCol w="1371600"/>
                <a:gridCol w="1883664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프로젝트명</a:t>
                      </a:r>
                    </a:p>
                  </a:txBody>
                  <a:tcPr anchor="ctr" marT="63500" marB="63500" marL="101600" marR="101600">
                    <a:solidFill>
                      <a:srgbClr val="D700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담당팀</a:t>
                      </a:r>
                    </a:p>
                  </a:txBody>
                  <a:tcPr anchor="ctr" marT="63500" marB="63500" marL="101600" marR="101600">
                    <a:solidFill>
                      <a:srgbClr val="D700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진척률</a:t>
                      </a:r>
                    </a:p>
                  </a:txBody>
                  <a:tcPr anchor="ctr" marT="63500" marB="63500" marL="101600" marR="101600">
                    <a:solidFill>
                      <a:srgbClr val="D700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목표일</a:t>
                      </a:r>
                    </a:p>
                  </a:txBody>
                  <a:tcPr anchor="ctr" marT="63500" marB="63500" marL="101600" marR="101600">
                    <a:solidFill>
                      <a:srgbClr val="D700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anchor="ctr" marT="63500" marB="63500" marL="101600" marR="101600">
                    <a:solidFill>
                      <a:srgbClr val="D700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AI 교과서 플랫폼</a:t>
                      </a:r>
                    </a:p>
                  </a:txBody>
                  <a:tcPr anchor="ctr" marT="50800" marB="50800" marL="101600" marR="101600">
                    <a:solidFill>
                      <a:srgbClr val="F2F2F2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디지털혁신팀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26.02.28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  <a:latin typeface="맑은 고딕"/>
                          <a:ea typeface="맑은 고딕"/>
                        </a:rPr>
                        <a:t>● 완료</a:t>
                      </a:r>
                    </a:p>
                  </a:txBody>
                  <a:tcPr anchor="ctr" marT="50800" marB="50800" marL="101600" marR="101600">
                    <a:solidFill>
                      <a:srgbClr val="E8F5E9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학습 분석 대시보드</a:t>
                      </a:r>
                    </a:p>
                  </a:txBody>
                  <a:tcPr anchor="ctr" marT="50800" marB="50800" marL="101600" marR="101600">
                    <a:solidFill>
                      <a:srgbClr val="F2F2F2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데이터팀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72%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26.06.30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565C0"/>
                          </a:solidFill>
                          <a:latin typeface="맑은 고딕"/>
                          <a:ea typeface="맑은 고딕"/>
                        </a:rPr>
                        <a:t>◐ 진행중</a:t>
                      </a:r>
                    </a:p>
                  </a:txBody>
                  <a:tcPr anchor="ctr" marT="50800" marB="50800" marL="101600" marR="101600">
                    <a:solidFill>
                      <a:srgbClr val="E8F0FE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모바일 앱 리뉴얼</a:t>
                      </a:r>
                    </a:p>
                  </a:txBody>
                  <a:tcPr anchor="ctr" marT="50800" marB="50800" marL="101600" marR="101600">
                    <a:solidFill>
                      <a:srgbClr val="F2F2F2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앱개발팀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45%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26.09.15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65100"/>
                          </a:solidFill>
                          <a:latin typeface="맑은 고딕"/>
                          <a:ea typeface="맑은 고딕"/>
                        </a:rPr>
                        <a:t>▲ 주의</a:t>
                      </a:r>
                    </a:p>
                  </a:txBody>
                  <a:tcPr anchor="ctr" marT="50800" marB="50800" marL="101600" marR="101600">
                    <a:solidFill>
                      <a:srgbClr val="FFF3E0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ERP 시스템 전환</a:t>
                      </a:r>
                    </a:p>
                  </a:txBody>
                  <a:tcPr anchor="ctr" marT="50800" marB="50800" marL="101600" marR="101600">
                    <a:solidFill>
                      <a:srgbClr val="F2F2F2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IT인프라팀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28%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26.12.31</a:t>
                      </a:r>
                    </a:p>
                  </a:txBody>
                  <a:tcPr anchor="ctr" marT="50800" marB="50800" marL="101600" marR="101600">
                    <a:solidFill>
                      <a:srgbClr val="FFFFFF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  <a:latin typeface="맑은 고딕"/>
                          <a:ea typeface="맑은 고딕"/>
                        </a:rPr>
                        <a:t>■ 지연</a:t>
                      </a:r>
                    </a:p>
                  </a:txBody>
                  <a:tcPr anchor="ctr" marT="50800" marB="50800" marL="101600" marR="101600">
                    <a:solidFill>
                      <a:srgbClr val="FFEBEE"/>
                    </a:solidFill>
                    <a:lnL w="6350" cap="flat" cmpd="sng">
                      <a:solidFill>
                        <a:srgbClr val="D9D9D9"/>
                      </a:solidFill>
                    </a:lnL>
                    <a:lnR w="6350" cap="flat" cmpd="sng">
                      <a:solidFill>
                        <a:srgbClr val="D9D9D9"/>
                      </a:solidFill>
                    </a:lnR>
                    <a:lnT w="6350" cap="flat" cmpd="sng">
                      <a:solidFill>
                        <a:srgbClr val="D9D9D9"/>
                      </a:solidFill>
                    </a:lnT>
                    <a:lnB w="6350" cap="flat" cmpd="sng">
                      <a:solidFill>
                        <a:srgbClr val="D9D9D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6355080"/>
            <a:ext cx="82296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4450"/>
          </a:xfrm>
          <a:prstGeom prst="rect">
            <a:avLst/>
          </a:prstGeom>
          <a:solidFill>
            <a:srgbClr val="D70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74320"/>
            <a:ext cx="7735824" cy="438912"/>
          </a:xfrm>
          <a:prstGeom prst="rect">
            <a:avLst/>
          </a:prstGeom>
          <a:noFill/>
        </p:spPr>
        <p:txBody>
          <a:bodyPr wrap="square" tIns="76200" bIns="25400" lIns="0" rIns="0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2분기 이후 추진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749808"/>
            <a:ext cx="7735824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902208"/>
            <a:ext cx="7735824" cy="320040"/>
          </a:xfrm>
          <a:prstGeom prst="rect">
            <a:avLst/>
          </a:prstGeom>
          <a:noFill/>
        </p:spPr>
        <p:txBody>
          <a:bodyPr wrap="none" tIns="25400" bIns="25400" lIns="0" rIns="0">
            <a:spAutoFit/>
          </a:bodyPr>
          <a:lstStyle/>
          <a:p>
            <a:r>
              <a:rPr sz="1400" b="1">
                <a:solidFill>
                  <a:srgbClr val="404040"/>
                </a:solidFill>
                <a:latin typeface="맑은 고딕"/>
                <a:ea typeface="맑은 고딕"/>
              </a:rPr>
              <a:t>중점 추진 과제 4건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9680"/>
            <a:ext cx="7598664" cy="1481328"/>
          </a:xfrm>
          <a:prstGeom prst="rect">
            <a:avLst/>
          </a:prstGeom>
          <a:noFill/>
        </p:spPr>
        <p:txBody>
          <a:bodyPr wrap="square" tIns="0" bIns="0" lIns="50800" rIns="0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08080"/>
                </a:solidFill>
                <a:latin typeface="맑은 고딕"/>
                <a:ea typeface="맑은 고딕"/>
              </a:rPr>
              <a:t>•   </a:t>
            </a:r>
            <a:r>
              <a:rPr sz="1200" b="0">
                <a:solidFill>
                  <a:srgbClr val="404040"/>
                </a:solidFill>
                <a:latin typeface="맑은 고딕"/>
                <a:ea typeface="맑은 고딕"/>
              </a:rPr>
              <a:t>AI 학습 분석 플랫폼 정식 출시 및 학교 현장 적용 (4월)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08080"/>
                </a:solidFill>
                <a:latin typeface="맑은 고딕"/>
                <a:ea typeface="맑은 고딕"/>
              </a:rPr>
              <a:t>•   </a:t>
            </a:r>
            <a:r>
              <a:rPr sz="1200" b="0">
                <a:solidFill>
                  <a:srgbClr val="404040"/>
                </a:solidFill>
                <a:latin typeface="맑은 고딕"/>
                <a:ea typeface="맑은 고딕"/>
              </a:rPr>
              <a:t>모바일 앱 UX 전면 리뉴얼 — 접근성 개선 중점 (9월)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08080"/>
                </a:solidFill>
                <a:latin typeface="맑은 고딕"/>
                <a:ea typeface="맑은 고딕"/>
              </a:rPr>
              <a:t>•   </a:t>
            </a:r>
            <a:r>
              <a:rPr sz="1200" b="0">
                <a:solidFill>
                  <a:srgbClr val="404040"/>
                </a:solidFill>
                <a:latin typeface="맑은 고딕"/>
                <a:ea typeface="맑은 고딕"/>
              </a:rPr>
              <a:t>ERP 시스템 클라우드 전환 완료 및 안정화 (12월)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08080"/>
                </a:solidFill>
                <a:latin typeface="맑은 고딕"/>
                <a:ea typeface="맑은 고딕"/>
              </a:rPr>
              <a:t>•   </a:t>
            </a:r>
            <a:r>
              <a:rPr sz="1200" b="0">
                <a:solidFill>
                  <a:srgbClr val="404040"/>
                </a:solidFill>
                <a:latin typeface="맑은 고딕"/>
                <a:ea typeface="맑은 고딕"/>
              </a:rPr>
              <a:t>디지털 매출 비중 30% 달성을 위한 B2C 채널 강화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355080"/>
            <a:ext cx="82296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4450"/>
          </a:xfrm>
          <a:prstGeom prst="rect">
            <a:avLst/>
          </a:prstGeom>
          <a:solidFill>
            <a:srgbClr val="D70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228600"/>
            <a:ext cx="1371600" cy="274320"/>
          </a:xfrm>
          <a:prstGeom prst="rect">
            <a:avLst/>
          </a:prstGeom>
          <a:noFill/>
        </p:spPr>
        <p:txBody>
          <a:bodyPr wrap="none" tIns="25400" lIns="0">
            <a:spAutoFit/>
          </a:bodyPr>
          <a:lstStyle/>
          <a:p>
            <a:r>
              <a:rPr sz="1300" b="0">
                <a:solidFill>
                  <a:srgbClr val="808080"/>
                </a:solidFill>
                <a:latin typeface="맑은 고딕"/>
                <a:ea typeface="맑은 고딕"/>
              </a:rPr>
              <a:t>[별첨]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502920"/>
            <a:ext cx="7735824" cy="438912"/>
          </a:xfrm>
          <a:prstGeom prst="rect">
            <a:avLst/>
          </a:prstGeom>
          <a:noFill/>
        </p:spPr>
        <p:txBody>
          <a:bodyPr wrap="square" tIns="76200" bIns="25400" lIns="0" rIns="0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상세 재무 데이터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978408"/>
            <a:ext cx="7735824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176528"/>
            <a:ext cx="7735824" cy="320040"/>
          </a:xfrm>
          <a:prstGeom prst="rect">
            <a:avLst/>
          </a:prstGeom>
          <a:noFill/>
        </p:spPr>
        <p:txBody>
          <a:bodyPr wrap="none" tIns="25400" bIns="25400" lIns="0" rIns="0">
            <a:spAutoFit/>
          </a:bodyPr>
          <a:lstStyle/>
          <a:p>
            <a:r>
              <a:rPr sz="1400" b="1">
                <a:solidFill>
                  <a:srgbClr val="404040"/>
                </a:solidFill>
                <a:latin typeface="맑은 고딕"/>
                <a:ea typeface="맑은 고딕"/>
              </a:rPr>
              <a:t>매출 구성 (단위: 억 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524000"/>
            <a:ext cx="7598664" cy="1133856"/>
          </a:xfrm>
          <a:prstGeom prst="rect">
            <a:avLst/>
          </a:prstGeom>
          <a:noFill/>
        </p:spPr>
        <p:txBody>
          <a:bodyPr wrap="square" tIns="0" bIns="0" lIns="50800" rIns="0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08080"/>
                </a:solidFill>
                <a:latin typeface="맑은 고딕"/>
                <a:ea typeface="맑은 고딕"/>
              </a:rPr>
              <a:t>•   </a:t>
            </a:r>
            <a:r>
              <a:rPr sz="1200" b="0">
                <a:solidFill>
                  <a:srgbClr val="404040"/>
                </a:solidFill>
                <a:latin typeface="맑은 고딕"/>
                <a:ea typeface="맑은 고딕"/>
              </a:rPr>
              <a:t>교과서 사업부: 98억 원 (전년 대비 +8.9%)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08080"/>
                </a:solidFill>
                <a:latin typeface="맑은 고딕"/>
                <a:ea typeface="맑은 고딕"/>
              </a:rPr>
              <a:t>•   </a:t>
            </a:r>
            <a:r>
              <a:rPr sz="1200" b="0">
                <a:solidFill>
                  <a:srgbClr val="404040"/>
                </a:solidFill>
                <a:latin typeface="맑은 고딕"/>
                <a:ea typeface="맑은 고딕"/>
              </a:rPr>
              <a:t>참고서 사업부: 42억 원 (전년 대비 +5.0%)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08080"/>
                </a:solidFill>
                <a:latin typeface="맑은 고딕"/>
                <a:ea typeface="맑은 고딕"/>
              </a:rPr>
              <a:t>•   </a:t>
            </a:r>
            <a:r>
              <a:rPr sz="1200" b="0">
                <a:solidFill>
                  <a:srgbClr val="404040"/>
                </a:solidFill>
                <a:latin typeface="맑은 고딕"/>
                <a:ea typeface="맑은 고딕"/>
              </a:rPr>
              <a:t>디지털 콘텐츠: 22억 원 (전년 대비 +34.1%)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694432"/>
            <a:ext cx="7735824" cy="320040"/>
          </a:xfrm>
          <a:prstGeom prst="rect">
            <a:avLst/>
          </a:prstGeom>
          <a:noFill/>
        </p:spPr>
        <p:txBody>
          <a:bodyPr wrap="none" tIns="25400" bIns="25400" lIns="0" rIns="0">
            <a:spAutoFit/>
          </a:bodyPr>
          <a:lstStyle/>
          <a:p>
            <a:r>
              <a:rPr sz="1400" b="1">
                <a:solidFill>
                  <a:srgbClr val="404040"/>
                </a:solidFill>
                <a:latin typeface="맑은 고딕"/>
                <a:ea typeface="맑은 고딕"/>
              </a:rPr>
              <a:t>수익성 지표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41904"/>
            <a:ext cx="7598664" cy="1133856"/>
          </a:xfrm>
          <a:prstGeom prst="rect">
            <a:avLst/>
          </a:prstGeom>
          <a:noFill/>
        </p:spPr>
        <p:txBody>
          <a:bodyPr wrap="square" tIns="0" bIns="0" lIns="50800" rIns="0">
            <a:spAutoFit/>
          </a:bodyPr>
          <a:lstStyle/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08080"/>
                </a:solidFill>
                <a:latin typeface="맑은 고딕"/>
                <a:ea typeface="맑은 고딕"/>
              </a:rPr>
              <a:t>•   </a:t>
            </a:r>
            <a:r>
              <a:rPr sz="1200" b="0">
                <a:solidFill>
                  <a:srgbClr val="404040"/>
                </a:solidFill>
                <a:latin typeface="맑은 고딕"/>
                <a:ea typeface="맑은 고딕"/>
              </a:rPr>
              <a:t>영업이익률: 17.0% (전년 14.7% → 2.3%p 개선)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08080"/>
                </a:solidFill>
                <a:latin typeface="맑은 고딕"/>
                <a:ea typeface="맑은 고딕"/>
              </a:rPr>
              <a:t>•   </a:t>
            </a:r>
            <a:r>
              <a:rPr sz="1200" b="0">
                <a:solidFill>
                  <a:srgbClr val="404040"/>
                </a:solidFill>
                <a:latin typeface="맑은 고딕"/>
                <a:ea typeface="맑은 고딕"/>
              </a:rPr>
              <a:t>EBITDA: 31억 원 (전년 대비 +18.2%)</a:t>
            </a:r>
          </a:p>
          <a:p>
            <a:pPr>
              <a:lnSpc>
                <a:spcPts val="18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808080"/>
                </a:solidFill>
                <a:latin typeface="맑은 고딕"/>
                <a:ea typeface="맑은 고딕"/>
              </a:rPr>
              <a:t>•   </a:t>
            </a:r>
            <a:r>
              <a:rPr sz="1200" b="0">
                <a:solidFill>
                  <a:srgbClr val="404040"/>
                </a:solidFill>
                <a:latin typeface="맑은 고딕"/>
                <a:ea typeface="맑은 고딕"/>
              </a:rPr>
              <a:t>순이익: 19억 원 (전년 대비 +15.4%)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6355080"/>
            <a:ext cx="82296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0" y="2880360"/>
            <a:ext cx="1097280" cy="25400"/>
          </a:xfrm>
          <a:prstGeom prst="rect">
            <a:avLst/>
          </a:prstGeom>
          <a:solidFill>
            <a:srgbClr val="D70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4572000" cy="7315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2400" b="1">
                <a:solidFill>
                  <a:srgbClr val="808080"/>
                </a:solidFill>
                <a:latin typeface="맑은 고딕"/>
                <a:ea typeface="맑은 고딕"/>
              </a:rPr>
              <a:t>E.O.D</a:t>
            </a:r>
          </a:p>
        </p:txBody>
      </p:sp>
      <p:sp>
        <p:nvSpPr>
          <p:cNvPr id="4" name="Rectangle 3"/>
          <p:cNvSpPr/>
          <p:nvPr/>
        </p:nvSpPr>
        <p:spPr>
          <a:xfrm>
            <a:off x="4023360" y="3703320"/>
            <a:ext cx="1097280" cy="25400"/>
          </a:xfrm>
          <a:prstGeom prst="rect">
            <a:avLst/>
          </a:prstGeom>
          <a:solidFill>
            <a:srgbClr val="D70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